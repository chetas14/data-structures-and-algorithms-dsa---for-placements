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Brygada 1918" panose="020B0604020202020204" charset="0"/>
      <p:regular r:id="rId8"/>
    </p:embeddedFont>
    <p:embeddedFont>
      <p:font typeface="Brygada 1918 Semi Bold" panose="020B0604020202020204" charset="0"/>
      <p:regular r:id="rId9"/>
    </p:embeddedFont>
    <p:embeddedFont>
      <p:font typeface="Consolas" panose="020B0609020204030204" pitchFamily="49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81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Case of the Hidden Palindrome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LeetCode Problem 125: Valid Palindrome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4520"/>
            <a:ext cx="114347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Challenge: Unmasking the Palindrome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6927"/>
            <a:ext cx="4196358" cy="3318153"/>
          </a:xfrm>
          <a:prstGeom prst="roundRect">
            <a:avLst>
              <a:gd name="adj" fmla="val 10254"/>
            </a:avLst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28224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626C3B"/>
          </a:solidFill>
          <a:ln/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45840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Mystery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66903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string is presented, but it's disguised with noise – uppercase letters, punctuation, and spaces obscuring the truth.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36927"/>
            <a:ext cx="4196358" cy="3318153"/>
          </a:xfrm>
          <a:prstGeom prst="roundRect">
            <a:avLst>
              <a:gd name="adj" fmla="val 10254"/>
            </a:avLst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451396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792E"/>
          </a:solidFill>
          <a:ln/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45840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Mission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6690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Determine if, after cleaning and standardizing, the string reads the same forwards and backward.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036927"/>
            <a:ext cx="4196358" cy="3318153"/>
          </a:xfrm>
          <a:prstGeom prst="roundRect">
            <a:avLst>
              <a:gd name="adj" fmla="val 10254"/>
            </a:avLst>
          </a:prstGeom>
          <a:solidFill>
            <a:srgbClr val="626C3B"/>
          </a:solidFill>
          <a:ln w="7620">
            <a:solidFill>
              <a:srgbClr val="E8AF3B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874568" y="327136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8AF3B"/>
          </a:solidFill>
          <a:ln/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45840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Stakes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6690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 simple true or false answer, but the method matters! Efficiency and correctness are paramount.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0EBA0D-8CD1-0C4F-918C-A00A309F00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56860" y="7496770"/>
            <a:ext cx="2457793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1700"/>
            <a:ext cx="115232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Suspects: What's Hiding in Plain Sight?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841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Let's examine three test cases to understand what makes a valid palindrome: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02161"/>
            <a:ext cx="4196358" cy="4005620"/>
          </a:xfrm>
          <a:prstGeom prst="roundRect">
            <a:avLst>
              <a:gd name="adj" fmla="val 8494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4270" y="3032641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626C3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21888" y="315634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3939897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"A man, a plan, a canal: Panama"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784646"/>
            <a:ext cx="3681770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Cleaned: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amanaplanacanalpanama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1084" y="566177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Verdict: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True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– It's a palindrome! The famous example reads the same both ways.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002161"/>
            <a:ext cx="4196358" cy="4005620"/>
          </a:xfrm>
          <a:prstGeom prst="roundRect">
            <a:avLst>
              <a:gd name="adj" fmla="val 8494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247442" y="3032641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83792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145060" y="315634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5474256" y="39398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"race a car"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4430316"/>
            <a:ext cx="3681770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Cleaned: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raceacar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474256" y="494454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Verdict: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CC914D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False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– Not a palindrome! 'raceacar' doesn't match when reversed.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002161"/>
            <a:ext cx="4196358" cy="4005620"/>
          </a:xfrm>
          <a:prstGeom prst="roundRect">
            <a:avLst>
              <a:gd name="adj" fmla="val 8494"/>
            </a:avLst>
          </a:prstGeom>
          <a:solidFill>
            <a:srgbClr val="F6EBD4"/>
          </a:solidFill>
          <a:ln w="30480">
            <a:solidFill>
              <a:srgbClr val="E8AF3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670613" y="3032641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E8AF3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568232" y="315634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9897427" y="39398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" " (Empty String)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7427" y="4430316"/>
            <a:ext cx="3681770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Cleaned: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dirty="0">
                <a:solidFill>
                  <a:srgbClr val="403011"/>
                </a:solidFill>
                <a:highlight>
                  <a:srgbClr val="E9DEC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897427" y="4944547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Verdict: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b="1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True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– An empty string is a valid palindrome by definition!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A693987-49D7-F635-EB84-2A7F77078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607" y="7421602"/>
            <a:ext cx="2457793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7021" y="1565910"/>
            <a:ext cx="10967323" cy="578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Detective's Toolkit: The Two-Pointer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27021" y="2204918"/>
            <a:ext cx="2777371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Strategy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927021" y="2778800"/>
            <a:ext cx="12776359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We use two pointers, one starting at the beginning (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left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) and one at the end (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right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) of the string. They move towards each other, examining characters.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27021" y="3274457"/>
            <a:ext cx="2777371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Process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927021" y="3848338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27021" y="4140041"/>
            <a:ext cx="6312575" cy="22860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27021" y="4278273"/>
            <a:ext cx="6312575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Move 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left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forward until it points to an alphanumeric character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90686" y="3848338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90686" y="4140041"/>
            <a:ext cx="6312694" cy="22860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90686" y="4278273"/>
            <a:ext cx="6312694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Move 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right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backward until it points to an alphanumeric character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27021" y="4837152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27021" y="5128855"/>
            <a:ext cx="6312575" cy="22860"/>
          </a:xfrm>
          <a:prstGeom prst="rect">
            <a:avLst/>
          </a:prstGeom>
          <a:solidFill>
            <a:srgbClr val="E8AF3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27021" y="5267087"/>
            <a:ext cx="6312575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Compare the characters at 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left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and 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right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(case-insensitive)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90686" y="4837152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90686" y="5128855"/>
            <a:ext cx="6312694" cy="22860"/>
          </a:xfrm>
          <a:prstGeom prst="rect">
            <a:avLst/>
          </a:prstGeom>
          <a:solidFill>
            <a:srgbClr val="CC914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90686" y="5267087"/>
            <a:ext cx="6312694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If they don't match, it's not a palindrome – return 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false</a:t>
            </a: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immediately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7021" y="5825966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927021" y="6117669"/>
            <a:ext cx="6312575" cy="22860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7021" y="6255901"/>
            <a:ext cx="6312575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If they match, move both pointers inwards and repeat until they meet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90686" y="5825966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390686" y="6117669"/>
            <a:ext cx="6312694" cy="22860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90686" y="6255901"/>
            <a:ext cx="6312694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If pointers meet without mismatches, it's a palindrome – return </a:t>
            </a:r>
            <a:r>
              <a:rPr lang="en-US" sz="14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true</a:t>
            </a:r>
            <a:endParaRPr lang="en-US" sz="14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F9C677-0E18-28B7-91F9-A987439D9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607" y="7482561"/>
            <a:ext cx="2457793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182886"/>
            <a:ext cx="44390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The C++ Solution: The Master Key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2652236"/>
            <a:ext cx="4989671" cy="27848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76442" y="1685925"/>
            <a:ext cx="2559010" cy="4717613"/>
          </a:xfrm>
          <a:prstGeom prst="roundRect">
            <a:avLst>
              <a:gd name="adj" fmla="val 6648"/>
            </a:avLst>
          </a:prstGeom>
          <a:solidFill>
            <a:srgbClr val="E9DEC7"/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8670846" y="1685925"/>
            <a:ext cx="2570202" cy="4717613"/>
          </a:xfrm>
          <a:prstGeom prst="roundRect">
            <a:avLst>
              <a:gd name="adj" fmla="val 662"/>
            </a:avLst>
          </a:prstGeom>
          <a:solidFill>
            <a:srgbClr val="E9DEC7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812530" y="1799273"/>
            <a:ext cx="2286833" cy="449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403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Solution {
public:
    bool isPalindrome(string s) {
        int left = 0;
        int right = s.length() - 1;
        while (left &lt; right) {
            // Skip non-alphanumeric from left
            while (left &lt; right &amp;&amp; !isalnum(s[left]))
                left++;
            // Skip non-alphanumeric from right
            while (left &lt; right &amp;&amp; !isalnum(s[right]))
                right--;
            // Compare characters (case-insensitive)
            if (left &lt; right &amp;&amp; 
                tolower(s[left]) != tolower(s[right])) {
                return false;
            }
            left++;
            right--;
        }
        return true;
    }
};
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02449" y="6530935"/>
            <a:ext cx="7825502" cy="515779"/>
          </a:xfrm>
          <a:prstGeom prst="roundRect">
            <a:avLst>
              <a:gd name="adj" fmla="val 32983"/>
            </a:avLst>
          </a:prstGeom>
          <a:solidFill>
            <a:srgbClr val="DFE4CE"/>
          </a:solidFill>
          <a:ln/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797" y="6672620"/>
            <a:ext cx="141684" cy="1133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70828" y="6615946"/>
            <a:ext cx="734377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Time Complexity:</a:t>
            </a: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O(n) where n is the length of the string. Each character is visited at most once.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770828" y="6802993"/>
            <a:ext cx="7343775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Space Complexity:</a:t>
            </a:r>
            <a:r>
              <a:rPr lang="en-US" sz="8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O(1) as we only use two pointers and no extra space.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2B06F5-D2B0-AE78-77C9-E38F1C4E6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2607" y="7498121"/>
            <a:ext cx="2457793" cy="743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525</Words>
  <Application>Microsoft Office PowerPoint</Application>
  <PresentationFormat>Custom</PresentationFormat>
  <Paragraphs>48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Brygada 1918 Light</vt:lpstr>
      <vt:lpstr>Consolas</vt:lpstr>
      <vt:lpstr>Brygada 1918 Semi Bold</vt:lpstr>
      <vt:lpstr>Brygada 1918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 Chetas</cp:lastModifiedBy>
  <cp:revision>2</cp:revision>
  <dcterms:created xsi:type="dcterms:W3CDTF">2026-03-27T15:09:08Z</dcterms:created>
  <dcterms:modified xsi:type="dcterms:W3CDTF">2026-03-27T15:10:51Z</dcterms:modified>
</cp:coreProperties>
</file>